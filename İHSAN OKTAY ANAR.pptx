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4" r:id="rId1"/>
  </p:sldMasterIdLst>
  <p:sldIdLst>
    <p:sldId id="256" r:id="rId2"/>
    <p:sldId id="258" r:id="rId3"/>
    <p:sldId id="257"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710" autoAdjust="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6B10BE78-F3CF-44AA-B332-3C32EF1AB814}" type="datetimeFigureOut">
              <a:rPr lang="tr-TR" smtClean="0"/>
              <a:t>3.04.2026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9255346" y="2750337"/>
            <a:ext cx="1171888" cy="1356442"/>
          </a:xfrm>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096687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tr-TR"/>
          </a:p>
        </p:txBody>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B10BE78-F3CF-44AA-B332-3C32EF1AB814}" type="datetimeFigureOut">
              <a:rPr lang="tr-TR" smtClean="0"/>
              <a:t>3.04.2026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044484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6B10BE78-F3CF-44AA-B332-3C32EF1AB814}" type="datetimeFigureOut">
              <a:rPr lang="tr-TR" smtClean="0"/>
              <a:t>3.04.2026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10729455" y="2869895"/>
            <a:ext cx="1154151" cy="1090789"/>
          </a:xfrm>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4178140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35558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0322" y="3030008"/>
            <a:ext cx="4698355" cy="290617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594123" y="3030008"/>
            <a:ext cx="4700059" cy="2906179"/>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6B10BE78-F3CF-44AA-B332-3C32EF1AB814}" type="datetimeFigureOut">
              <a:rPr lang="tr-TR" smtClean="0"/>
              <a:t>3.04.2026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765080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6B10BE78-F3CF-44AA-B332-3C32EF1AB814}" type="datetimeFigureOut">
              <a:rPr lang="tr-TR" smtClean="0"/>
              <a:t>3.04.2026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37542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6B10BE78-F3CF-44AA-B332-3C32EF1AB814}" type="datetimeFigureOut">
              <a:rPr lang="tr-TR" smtClean="0"/>
              <a:t>3.04.2026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96132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tr-TR"/>
              <a:t>Asıl başlık stilini düzenlemek için tıklayın</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3561304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370587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11309"/>
            <a:ext cx="1154151" cy="1090789"/>
          </a:xfrm>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32839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11615"/>
            <a:ext cx="1154151" cy="1090789"/>
          </a:xfrm>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4282663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tr-TR"/>
              <a:t>Asıl başlık stilini düzenlemek için tıklayın</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09925"/>
            <a:ext cx="1154151" cy="1090789"/>
          </a:xfrm>
        </p:spPr>
        <p:txBody>
          <a:bodyPr/>
          <a:lstStyle/>
          <a:p>
            <a:fld id="{6B688B50-7D4E-4166-92D6-B1018C511047}" type="slidenum">
              <a:rPr lang="tr-TR" smtClean="0"/>
              <a:t>‹#›</a:t>
            </a:fld>
            <a:endParaRPr lang="tr-TR"/>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24313332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6B10BE78-F3CF-44AA-B332-3C32EF1AB814}" type="datetimeFigureOut">
              <a:rPr lang="tr-TR" smtClean="0"/>
              <a:t>3.04.2026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a:xfrm>
            <a:off x="10729455" y="4709925"/>
            <a:ext cx="1154151" cy="1090789"/>
          </a:xfrm>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499190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ütu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tr-TR"/>
              <a:t>Asıl başlık stilini düzenlemek için tıklayın</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B10BE78-F3CF-44AA-B332-3C32EF1AB814}" type="datetimeFigureOut">
              <a:rPr lang="tr-TR" smtClean="0"/>
              <a:t>3.04.2026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852000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Resim Sütunu">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tr-TR"/>
              <a:t>Asıl başlık stilini düzenlemek için tıklayın</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6B10BE78-F3CF-44AA-B332-3C32EF1AB814}" type="datetimeFigureOut">
              <a:rPr lang="tr-TR" smtClean="0"/>
              <a:t>3.04.2026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2679301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6B10BE78-F3CF-44AA-B332-3C32EF1AB814}" type="datetimeFigureOut">
              <a:rPr lang="tr-TR" smtClean="0"/>
              <a:t>3.04.2026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6B688B50-7D4E-4166-92D6-B1018C511047}" type="slidenum">
              <a:rPr lang="tr-TR" smtClean="0"/>
              <a:t>‹#›</a:t>
            </a:fld>
            <a:endParaRPr lang="tr-TR"/>
          </a:p>
        </p:txBody>
      </p:sp>
    </p:spTree>
    <p:extLst>
      <p:ext uri="{BB962C8B-B14F-4D97-AF65-F5344CB8AC3E}">
        <p14:creationId xmlns:p14="http://schemas.microsoft.com/office/powerpoint/2010/main" val="3130591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B10BE78-F3CF-44AA-B332-3C32EF1AB814}" type="datetimeFigureOut">
              <a:rPr lang="tr-TR" smtClean="0"/>
              <a:t>3.04.2026</a:t>
            </a:fld>
            <a:endParaRPr lang="tr-TR"/>
          </a:p>
        </p:txBody>
      </p:sp>
      <p:sp>
        <p:nvSpPr>
          <p:cNvPr id="5" name="Footer Placeholder 4"/>
          <p:cNvSpPr>
            <a:spLocks noGrp="1"/>
          </p:cNvSpPr>
          <p:nvPr>
            <p:ph type="ftr" sz="quarter" idx="11"/>
          </p:nvPr>
        </p:nvSpPr>
        <p:spPr>
          <a:xfrm>
            <a:off x="680321" y="5936188"/>
            <a:ext cx="6126805" cy="365125"/>
          </a:xfrm>
        </p:spPr>
        <p:txBody>
          <a:bodyPr/>
          <a:lstStyle/>
          <a:p>
            <a:endParaRPr lang="tr-TR"/>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B688B50-7D4E-4166-92D6-B1018C511047}" type="slidenum">
              <a:rPr lang="tr-TR" smtClean="0"/>
              <a:t>‹#›</a:t>
            </a:fld>
            <a:endParaRPr lang="tr-TR"/>
          </a:p>
        </p:txBody>
      </p:sp>
    </p:spTree>
    <p:extLst>
      <p:ext uri="{BB962C8B-B14F-4D97-AF65-F5344CB8AC3E}">
        <p14:creationId xmlns:p14="http://schemas.microsoft.com/office/powerpoint/2010/main" val="41255653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B10BE78-F3CF-44AA-B332-3C32EF1AB814}" type="datetimeFigureOut">
              <a:rPr lang="tr-TR" smtClean="0"/>
              <a:t>3.04.2026</a:t>
            </a:fld>
            <a:endParaRPr lang="tr-TR"/>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B688B50-7D4E-4166-92D6-B1018C511047}" type="slidenum">
              <a:rPr lang="tr-TR" smtClean="0"/>
              <a:t>‹#›</a:t>
            </a:fld>
            <a:endParaRPr lang="tr-TR"/>
          </a:p>
        </p:txBody>
      </p:sp>
    </p:spTree>
    <p:extLst>
      <p:ext uri="{BB962C8B-B14F-4D97-AF65-F5344CB8AC3E}">
        <p14:creationId xmlns:p14="http://schemas.microsoft.com/office/powerpoint/2010/main" val="56785851"/>
      </p:ext>
    </p:extLst>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 id="2147483786" r:id="rId12"/>
    <p:sldLayoutId id="2147483787" r:id="rId13"/>
    <p:sldLayoutId id="2147483788" r:id="rId14"/>
    <p:sldLayoutId id="2147483789" r:id="rId15"/>
    <p:sldLayoutId id="2147483790" r:id="rId16"/>
    <p:sldLayoutId id="214748379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79398E-3537-4C53-840E-EE01A517C4F0}"/>
              </a:ext>
            </a:extLst>
          </p:cNvPr>
          <p:cNvSpPr>
            <a:spLocks noGrp="1"/>
          </p:cNvSpPr>
          <p:nvPr>
            <p:ph type="ctrTitle"/>
          </p:nvPr>
        </p:nvSpPr>
        <p:spPr>
          <a:xfrm>
            <a:off x="0" y="300504"/>
            <a:ext cx="9144000" cy="2387600"/>
          </a:xfrm>
        </p:spPr>
        <p:txBody>
          <a:bodyPr/>
          <a:lstStyle/>
          <a:p>
            <a:pPr algn="l"/>
            <a:r>
              <a:rPr lang="tr-TR"/>
              <a:t>İHSAN OKTAY ANAR</a:t>
            </a:r>
            <a:endParaRPr lang="tr-TR" dirty="0"/>
          </a:p>
        </p:txBody>
      </p:sp>
      <p:sp>
        <p:nvSpPr>
          <p:cNvPr id="3" name="Alt Başlık 2">
            <a:extLst>
              <a:ext uri="{FF2B5EF4-FFF2-40B4-BE49-F238E27FC236}">
                <a16:creationId xmlns:a16="http://schemas.microsoft.com/office/drawing/2014/main" id="{0F8A6792-0236-477F-B4DF-31908E42F798}"/>
              </a:ext>
            </a:extLst>
          </p:cNvPr>
          <p:cNvSpPr>
            <a:spLocks noGrp="1"/>
          </p:cNvSpPr>
          <p:nvPr>
            <p:ph type="subTitle" idx="1"/>
          </p:nvPr>
        </p:nvSpPr>
        <p:spPr>
          <a:xfrm>
            <a:off x="0" y="2688104"/>
            <a:ext cx="9144000" cy="1655762"/>
          </a:xfrm>
        </p:spPr>
        <p:txBody>
          <a:bodyPr/>
          <a:lstStyle/>
          <a:p>
            <a:pPr marL="342900" indent="-342900" algn="just">
              <a:buFont typeface="Arial" panose="020B0604020202020204" pitchFamily="34" charset="0"/>
              <a:buChar char="•"/>
            </a:pPr>
            <a:r>
              <a:rPr lang="tr-TR" dirty="0"/>
              <a:t>Hakkında</a:t>
            </a:r>
          </a:p>
          <a:p>
            <a:pPr marL="342900" indent="-342900" algn="just">
              <a:buFont typeface="Arial" panose="020B0604020202020204" pitchFamily="34" charset="0"/>
              <a:buChar char="•"/>
            </a:pPr>
            <a:r>
              <a:rPr lang="tr-TR" dirty="0"/>
              <a:t>Hayatı</a:t>
            </a:r>
          </a:p>
          <a:p>
            <a:pPr marL="342900" indent="-342900" algn="just">
              <a:buFont typeface="Arial" panose="020B0604020202020204" pitchFamily="34" charset="0"/>
              <a:buChar char="•"/>
            </a:pPr>
            <a:r>
              <a:rPr lang="tr-TR" dirty="0"/>
              <a:t>Edebi kişiliği</a:t>
            </a:r>
          </a:p>
          <a:p>
            <a:pPr marL="342900" indent="-342900" algn="just">
              <a:buFont typeface="Arial" panose="020B0604020202020204" pitchFamily="34" charset="0"/>
              <a:buChar char="•"/>
            </a:pPr>
            <a:r>
              <a:rPr lang="tr-TR" dirty="0"/>
              <a:t>Kitapları</a:t>
            </a:r>
          </a:p>
        </p:txBody>
      </p:sp>
      <p:pic>
        <p:nvPicPr>
          <p:cNvPr id="1030" name="Picture 6" descr="İhsan Oktay Anar: “Bunlar roman, belgesel değil.” - Oggito">
            <a:extLst>
              <a:ext uri="{FF2B5EF4-FFF2-40B4-BE49-F238E27FC236}">
                <a16:creationId xmlns:a16="http://schemas.microsoft.com/office/drawing/2014/main" id="{2E8D1786-220B-9003-9CB8-2930636E3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4625" y="4267200"/>
            <a:ext cx="1857375"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2135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E920634-E2C4-438A-A97C-3DF5948F632E}"/>
              </a:ext>
            </a:extLst>
          </p:cNvPr>
          <p:cNvSpPr>
            <a:spLocks noGrp="1"/>
          </p:cNvSpPr>
          <p:nvPr>
            <p:ph type="title"/>
          </p:nvPr>
        </p:nvSpPr>
        <p:spPr/>
        <p:txBody>
          <a:bodyPr/>
          <a:lstStyle/>
          <a:p>
            <a:r>
              <a:rPr lang="tr-TR" dirty="0"/>
              <a:t>Hakkında</a:t>
            </a:r>
          </a:p>
        </p:txBody>
      </p:sp>
      <p:sp>
        <p:nvSpPr>
          <p:cNvPr id="3" name="İçerik Yer Tutucusu 2">
            <a:extLst>
              <a:ext uri="{FF2B5EF4-FFF2-40B4-BE49-F238E27FC236}">
                <a16:creationId xmlns:a16="http://schemas.microsoft.com/office/drawing/2014/main" id="{E935F224-4E41-441C-B03D-9AB8C12A1452}"/>
              </a:ext>
            </a:extLst>
          </p:cNvPr>
          <p:cNvSpPr>
            <a:spLocks noGrp="1"/>
          </p:cNvSpPr>
          <p:nvPr>
            <p:ph idx="1"/>
          </p:nvPr>
        </p:nvSpPr>
        <p:spPr/>
        <p:txBody>
          <a:bodyPr/>
          <a:lstStyle/>
          <a:p>
            <a:r>
              <a:rPr lang="tr-TR" dirty="0"/>
              <a:t>Yozgat’ta doğdu. Ege Üniversitesi Edebiyat Fakültesi Felsefe Bölümünü bitirdi. Aynı üniversitede yüksek lisans ve doktorasını tamamladı, aynı bölümde öğretim üyeliği yaptı. Çeşitli dergilerde hikâye ve yazıları yayımlandı. Masal ve mitoloji ögelerinden, dinî metinlerden, bilim, felsefe tarihi gibi çok zengin kaynaklardan beslenen yazar, eserlerinde zengin bir kişi kadrosuna yer verdi. Ayrıca İhsan Oktay Anar; felsefi, bilimsel ve kültürel unsurları bir arada yoğurduğu eserlerinde mekânlar, konuşulan diller ve kişilerin bağlı bulundukları ulusal kimlikler bakımından da okura oldukça zengin bir içerik sunmuştur</a:t>
            </a:r>
          </a:p>
          <a:p>
            <a:endParaRPr lang="tr-TR" dirty="0"/>
          </a:p>
        </p:txBody>
      </p:sp>
      <p:pic>
        <p:nvPicPr>
          <p:cNvPr id="2050" name="Picture 2" descr="İhsan Oktay Anar, Biyografisi, Tüm kitapları - tamadres.com">
            <a:extLst>
              <a:ext uri="{FF2B5EF4-FFF2-40B4-BE49-F238E27FC236}">
                <a16:creationId xmlns:a16="http://schemas.microsoft.com/office/drawing/2014/main" id="{D947D3FC-EF39-B8C1-ECF9-8E3558E24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81814" y="600363"/>
            <a:ext cx="1610186" cy="1385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867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7A9CBBD-CC13-43BF-A1A0-83283086E927}"/>
              </a:ext>
            </a:extLst>
          </p:cNvPr>
          <p:cNvSpPr>
            <a:spLocks noGrp="1"/>
          </p:cNvSpPr>
          <p:nvPr>
            <p:ph type="title"/>
          </p:nvPr>
        </p:nvSpPr>
        <p:spPr>
          <a:xfrm>
            <a:off x="680321" y="753228"/>
            <a:ext cx="9613861" cy="1080938"/>
          </a:xfrm>
        </p:spPr>
        <p:txBody>
          <a:bodyPr>
            <a:normAutofit/>
          </a:bodyPr>
          <a:lstStyle/>
          <a:p>
            <a:r>
              <a:rPr lang="tr-TR" dirty="0"/>
              <a:t>Hayatı</a:t>
            </a:r>
          </a:p>
        </p:txBody>
      </p:sp>
      <p:sp>
        <p:nvSpPr>
          <p:cNvPr id="3" name="İçerik Yer Tutucusu 2">
            <a:extLst>
              <a:ext uri="{FF2B5EF4-FFF2-40B4-BE49-F238E27FC236}">
                <a16:creationId xmlns:a16="http://schemas.microsoft.com/office/drawing/2014/main" id="{2DF24D97-937F-449F-82C1-B4B0B45AD1F8}"/>
              </a:ext>
            </a:extLst>
          </p:cNvPr>
          <p:cNvSpPr>
            <a:spLocks noGrp="1"/>
          </p:cNvSpPr>
          <p:nvPr>
            <p:ph idx="1"/>
          </p:nvPr>
        </p:nvSpPr>
        <p:spPr>
          <a:xfrm>
            <a:off x="680320" y="2336872"/>
            <a:ext cx="8191305" cy="3130073"/>
          </a:xfrm>
        </p:spPr>
        <p:txBody>
          <a:bodyPr>
            <a:noAutofit/>
          </a:bodyPr>
          <a:lstStyle/>
          <a:p>
            <a:pPr marL="0" indent="0">
              <a:buNone/>
            </a:pPr>
            <a:r>
              <a:rPr lang="tr-TR" sz="1600" dirty="0"/>
              <a:t>1893'te dedeleri Kazan'dan göçerek İstanbul'a gelmiş ve Cumhuriyetten sonra Anar soyadını almıştır. Babası Mehmet Sait Bey Tekel'de müskirat eksperi, dindar bir insandır. Annesi Bedia Hanım devlet memurudur. Süheyla ve Füruzan adında iki ablası olan İhsan Oktay Anar, onların da kitap okumayı sevdiğini söyler, beşinci kitabı </a:t>
            </a:r>
            <a:r>
              <a:rPr lang="tr-TR" sz="1600" dirty="0" err="1"/>
              <a:t>Suskunlar'ı</a:t>
            </a:r>
            <a:r>
              <a:rPr lang="tr-TR" sz="1600" dirty="0"/>
              <a:t> ablalarına ithaf etmiştir. Okumaya meraklı bir aileden gelen yazar, söyleşilerinde mutlu, huzurlu bir çocukluk geçirdiğini belirtmektedir.</a:t>
            </a:r>
          </a:p>
          <a:p>
            <a:pPr marL="0" indent="0">
              <a:buNone/>
            </a:pPr>
            <a:endParaRPr lang="tr-TR" sz="1600" b="0" i="0" dirty="0">
              <a:effectLst/>
              <a:latin typeface="Open Sans" panose="020B0604020202020204" pitchFamily="34" charset="0"/>
            </a:endParaRPr>
          </a:p>
          <a:p>
            <a:pPr marL="0" indent="0">
              <a:buNone/>
            </a:pPr>
            <a:r>
              <a:rPr lang="tr-TR" sz="1600" b="0" i="0" dirty="0">
                <a:effectLst/>
                <a:latin typeface="Open Sans" panose="020B0604020202020204" pitchFamily="34" charset="0"/>
              </a:rPr>
              <a:t>İhsan Oktay Anar, ilkokulu ve ortaokulu İstanbul’da okumuştur. Ailesinin İstanbul’dan taşınmasıyla öğrenim hayatına 1974’te İzmir’de devam eden yazar, Karşıyaka Erkek Lisesi’ne gitmiştir; ancak tamamlayamamıştır. Okula gitmek yerine kütüphaneye kaçıp kitap okuyan İhsan Oktay Anar, devamsızlık nedeniyle Karşıyaka Erkek Lisesi’nden atılınca Akşam Sanat Lisesi’ne yazılmıştır. Derslerin akşam olması, istediği gibi okuyabilmesi için büyük bir fırsat olmuştur. Anar, okurken tabela boyayarak girdiği resimli dünyada yağlı boya resim yapmaya başlamış, bu uğraşı yıllarca sürdürmüştür. Ege Üniversitesi Felsefe Bölümü'nü 1984’te bitirmiş, aynı üniversitede </a:t>
            </a:r>
            <a:r>
              <a:rPr lang="tr-TR" sz="1600" b="0" i="1" dirty="0">
                <a:effectLst/>
                <a:latin typeface="Open Sans" panose="020B0604020202020204" pitchFamily="34" charset="0"/>
              </a:rPr>
              <a:t>Sokrates Öncesi Felsefede Varlık Sorunu</a:t>
            </a:r>
            <a:r>
              <a:rPr lang="tr-TR" sz="1600" b="0" i="0" dirty="0">
                <a:effectLst/>
                <a:latin typeface="Open Sans" panose="020B0604020202020204" pitchFamily="34" charset="0"/>
              </a:rPr>
              <a:t> başlıklı teziyle, 1989’da yüksek lisansını tamamlamıştır.</a:t>
            </a:r>
            <a:endParaRPr lang="tr-TR" sz="1600" dirty="0"/>
          </a:p>
        </p:txBody>
      </p:sp>
      <p:pic>
        <p:nvPicPr>
          <p:cNvPr id="3074" name="Picture 2" descr="Kütüphane Haftası'nda mutlaka görülmesi gereken kütüphaneler -  KÜLTÜR.İSTANBUL">
            <a:extLst>
              <a:ext uri="{FF2B5EF4-FFF2-40B4-BE49-F238E27FC236}">
                <a16:creationId xmlns:a16="http://schemas.microsoft.com/office/drawing/2014/main" id="{EBCD8550-E082-BD26-0718-3098A626AB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385" r="32276" b="1"/>
          <a:stretch>
            <a:fillRect/>
          </a:stretch>
        </p:blipFill>
        <p:spPr bwMode="auto">
          <a:xfrm>
            <a:off x="9179936" y="2337326"/>
            <a:ext cx="2656718" cy="3598863"/>
          </a:xfrm>
          <a:prstGeom prst="rect">
            <a:avLst/>
          </a:prstGeom>
          <a:noFill/>
          <a:ln>
            <a:noFill/>
          </a:ln>
          <a:effectLst>
            <a:outerShdw blurRad="76200" dist="63500" dir="5040000" algn="tl" rotWithShape="0">
              <a:srgbClr val="000000">
                <a:alpha val="41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80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8624BD8-63F5-42A1-A157-1EE173E9EACA}"/>
              </a:ext>
            </a:extLst>
          </p:cNvPr>
          <p:cNvSpPr>
            <a:spLocks noGrp="1"/>
          </p:cNvSpPr>
          <p:nvPr>
            <p:ph type="title"/>
          </p:nvPr>
        </p:nvSpPr>
        <p:spPr/>
        <p:txBody>
          <a:bodyPr/>
          <a:lstStyle/>
          <a:p>
            <a:r>
              <a:rPr lang="tr-TR" dirty="0"/>
              <a:t>Edebi kişiliği</a:t>
            </a:r>
          </a:p>
        </p:txBody>
      </p:sp>
      <p:sp>
        <p:nvSpPr>
          <p:cNvPr id="3" name="İçerik Yer Tutucusu 2">
            <a:extLst>
              <a:ext uri="{FF2B5EF4-FFF2-40B4-BE49-F238E27FC236}">
                <a16:creationId xmlns:a16="http://schemas.microsoft.com/office/drawing/2014/main" id="{C5F7613A-1215-4FE2-8F04-278DEAAC2870}"/>
              </a:ext>
            </a:extLst>
          </p:cNvPr>
          <p:cNvSpPr>
            <a:spLocks noGrp="1"/>
          </p:cNvSpPr>
          <p:nvPr>
            <p:ph idx="1"/>
          </p:nvPr>
        </p:nvSpPr>
        <p:spPr/>
        <p:txBody>
          <a:bodyPr/>
          <a:lstStyle/>
          <a:p>
            <a:pPr marL="0" indent="0">
              <a:buNone/>
            </a:pPr>
            <a:r>
              <a:rPr lang="tr-TR" dirty="0"/>
              <a:t>İhsan Oktay Anar, Türk edebiyatında </a:t>
            </a:r>
            <a:r>
              <a:rPr lang="tr-TR" dirty="0" err="1"/>
              <a:t>postmodern</a:t>
            </a:r>
            <a:r>
              <a:rPr lang="tr-TR" dirty="0"/>
              <a:t> anlatımıyla öne çıkan özgün bir yazardır. Eserlerinde gerçek ile hayali iç içe geçirerek okuyucuyu farklı bir dünyaya sürükler. Çok katmanlı kurgu yapısı, zengin ve eski kelimelerle bezeli dili, masal ve mitoloji unsurlarıyla birleşerek kendine has bir üslup oluşturur. Romanlarında sıkça ironi, mizah ve oyunsu bir anlatım görülür. Farklı karakterleri ve olayları iç içe geçirerek tek bir merkezden uzak, parçalı bir yapı kurar. Bu özellikleriyle İhsan Oktay Anar, okuyucuyu düşündüren ve aktif katılım gerektiren eserler ortaya koymuştur.</a:t>
            </a:r>
          </a:p>
        </p:txBody>
      </p:sp>
      <p:pic>
        <p:nvPicPr>
          <p:cNvPr id="4098" name="Picture 2" descr="İhsan Oktay Anar Romanına Açılan Kapılar - Oggito">
            <a:extLst>
              <a:ext uri="{FF2B5EF4-FFF2-40B4-BE49-F238E27FC236}">
                <a16:creationId xmlns:a16="http://schemas.microsoft.com/office/drawing/2014/main" id="{E9FFEC22-B54F-F3B6-2D6B-4182230AA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0218" y="586480"/>
            <a:ext cx="1671782" cy="1414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009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F1728FE-B036-4D78-8652-91335E0889AD}"/>
              </a:ext>
            </a:extLst>
          </p:cNvPr>
          <p:cNvSpPr>
            <a:spLocks noGrp="1"/>
          </p:cNvSpPr>
          <p:nvPr>
            <p:ph type="title"/>
          </p:nvPr>
        </p:nvSpPr>
        <p:spPr/>
        <p:txBody>
          <a:bodyPr/>
          <a:lstStyle/>
          <a:p>
            <a:r>
              <a:rPr lang="tr-TR" dirty="0"/>
              <a:t>Eserleri</a:t>
            </a:r>
          </a:p>
        </p:txBody>
      </p:sp>
      <p:sp>
        <p:nvSpPr>
          <p:cNvPr id="3" name="İçerik Yer Tutucusu 2">
            <a:extLst>
              <a:ext uri="{FF2B5EF4-FFF2-40B4-BE49-F238E27FC236}">
                <a16:creationId xmlns:a16="http://schemas.microsoft.com/office/drawing/2014/main" id="{C12302E8-340D-4EF0-81C0-CBD90DB9403A}"/>
              </a:ext>
            </a:extLst>
          </p:cNvPr>
          <p:cNvSpPr>
            <a:spLocks noGrp="1"/>
          </p:cNvSpPr>
          <p:nvPr>
            <p:ph idx="1"/>
          </p:nvPr>
        </p:nvSpPr>
        <p:spPr>
          <a:xfrm>
            <a:off x="0" y="2346108"/>
            <a:ext cx="9613861" cy="4063927"/>
          </a:xfrm>
        </p:spPr>
        <p:txBody>
          <a:bodyPr>
            <a:normAutofit/>
          </a:bodyPr>
          <a:lstStyle/>
          <a:p>
            <a:r>
              <a:rPr lang="tr-TR" dirty="0">
                <a:solidFill>
                  <a:schemeClr val="bg1"/>
                </a:solidFill>
              </a:rPr>
              <a:t>Puslu Kıtalar Atlası  </a:t>
            </a:r>
            <a:r>
              <a:rPr lang="tr-TR" dirty="0"/>
              <a:t>→ En bilinen eseri, onu ünlü yapan roman</a:t>
            </a:r>
          </a:p>
          <a:p>
            <a:r>
              <a:rPr lang="tr-TR" dirty="0" err="1">
                <a:solidFill>
                  <a:schemeClr val="bg1"/>
                </a:solidFill>
              </a:rPr>
              <a:t>Kitab-ül</a:t>
            </a:r>
            <a:r>
              <a:rPr lang="tr-TR" dirty="0">
                <a:solidFill>
                  <a:schemeClr val="bg1"/>
                </a:solidFill>
              </a:rPr>
              <a:t> </a:t>
            </a:r>
            <a:r>
              <a:rPr lang="tr-TR" dirty="0" err="1">
                <a:solidFill>
                  <a:schemeClr val="bg1"/>
                </a:solidFill>
              </a:rPr>
              <a:t>Hiyel</a:t>
            </a:r>
            <a:r>
              <a:rPr lang="tr-TR" dirty="0">
                <a:solidFill>
                  <a:schemeClr val="bg1"/>
                </a:solidFill>
              </a:rPr>
              <a:t>  </a:t>
            </a:r>
            <a:r>
              <a:rPr lang="tr-TR" dirty="0"/>
              <a:t>→ Farklı hayat hikâyelerini birleştirir</a:t>
            </a:r>
          </a:p>
          <a:p>
            <a:r>
              <a:rPr lang="tr-TR" dirty="0" err="1">
                <a:solidFill>
                  <a:schemeClr val="bg1"/>
                </a:solidFill>
              </a:rPr>
              <a:t>Efrasiyab’ın</a:t>
            </a:r>
            <a:r>
              <a:rPr lang="tr-TR" dirty="0">
                <a:solidFill>
                  <a:schemeClr val="bg1"/>
                </a:solidFill>
              </a:rPr>
              <a:t> Hikâyeleri </a:t>
            </a:r>
            <a:r>
              <a:rPr lang="tr-TR" dirty="0"/>
              <a:t>→ Hikâye kitabıdır, masal ve mitoloji içerir</a:t>
            </a:r>
          </a:p>
          <a:p>
            <a:r>
              <a:rPr lang="tr-TR" dirty="0" err="1">
                <a:solidFill>
                  <a:schemeClr val="bg1"/>
                </a:solidFill>
              </a:rPr>
              <a:t>Amat</a:t>
            </a:r>
            <a:r>
              <a:rPr lang="tr-TR" dirty="0"/>
              <a:t>  → Deniz romanıdır, fantastik unsurlar barındırır</a:t>
            </a:r>
          </a:p>
          <a:p>
            <a:r>
              <a:rPr lang="tr-TR" dirty="0">
                <a:solidFill>
                  <a:schemeClr val="bg1"/>
                </a:solidFill>
              </a:rPr>
              <a:t>Suskunlar </a:t>
            </a:r>
            <a:r>
              <a:rPr lang="tr-TR" dirty="0"/>
              <a:t> </a:t>
            </a:r>
            <a:r>
              <a:rPr lang="tr-TR"/>
              <a:t>→ yazarın </a:t>
            </a:r>
            <a:r>
              <a:rPr lang="tr-TR" dirty="0"/>
              <a:t>olgunluk eseri olarak kabul edilir</a:t>
            </a:r>
            <a:r>
              <a:rPr lang="tr-TR" i="1" dirty="0"/>
              <a:t> </a:t>
            </a:r>
          </a:p>
          <a:p>
            <a:r>
              <a:rPr lang="tr-TR" dirty="0">
                <a:solidFill>
                  <a:schemeClr val="bg1"/>
                </a:solidFill>
              </a:rPr>
              <a:t>Yedinci Gün </a:t>
            </a:r>
            <a:r>
              <a:rPr lang="tr-TR" dirty="0"/>
              <a:t>→ Daha toplumsal ve tarihsel konular içerir</a:t>
            </a:r>
          </a:p>
          <a:p>
            <a:pPr algn="just"/>
            <a:r>
              <a:rPr lang="tr-TR" dirty="0">
                <a:solidFill>
                  <a:schemeClr val="bg1"/>
                </a:solidFill>
              </a:rPr>
              <a:t>Galiz Kahraman </a:t>
            </a:r>
            <a:r>
              <a:rPr lang="tr-TR" dirty="0"/>
              <a:t>→ Toplumdan dışlanmış bir karakter üzerinden 				  ilerleyen bir eleştiri romandır.</a:t>
            </a:r>
          </a:p>
        </p:txBody>
      </p:sp>
      <p:pic>
        <p:nvPicPr>
          <p:cNvPr id="5122" name="Picture 2" descr="Puslu Kıtalar Atlası">
            <a:extLst>
              <a:ext uri="{FF2B5EF4-FFF2-40B4-BE49-F238E27FC236}">
                <a16:creationId xmlns:a16="http://schemas.microsoft.com/office/drawing/2014/main" id="{E5C06F12-661C-D3A6-61A5-01355BBAA1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76553" y="2209834"/>
            <a:ext cx="2515447" cy="4336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118860"/>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56</TotalTime>
  <Words>448</Words>
  <Application>Microsoft Office PowerPoint</Application>
  <PresentationFormat>Geniş ekran</PresentationFormat>
  <Paragraphs>21</Paragraphs>
  <Slides>5</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5</vt:i4>
      </vt:variant>
    </vt:vector>
  </HeadingPairs>
  <TitlesOfParts>
    <vt:vector size="9" baseType="lpstr">
      <vt:lpstr>Arial</vt:lpstr>
      <vt:lpstr>Open Sans</vt:lpstr>
      <vt:lpstr>Trebuchet MS</vt:lpstr>
      <vt:lpstr>Berlin</vt:lpstr>
      <vt:lpstr>İHSAN OKTAY ANAR</vt:lpstr>
      <vt:lpstr>Hakkında</vt:lpstr>
      <vt:lpstr>Hayatı</vt:lpstr>
      <vt:lpstr>Edebi kişiliği</vt:lpstr>
      <vt:lpstr>Eserleri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İHSAN OKTAY ANAR</dc:title>
  <dc:creator>Lenovo</dc:creator>
  <cp:lastModifiedBy>ibrahim</cp:lastModifiedBy>
  <cp:revision>10</cp:revision>
  <dcterms:created xsi:type="dcterms:W3CDTF">2026-03-30T06:27:57Z</dcterms:created>
  <dcterms:modified xsi:type="dcterms:W3CDTF">2026-04-03T12:09:40Z</dcterms:modified>
</cp:coreProperties>
</file>