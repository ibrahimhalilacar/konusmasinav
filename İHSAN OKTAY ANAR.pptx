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4" r:id="rId1"/>
  </p:sldMasterIdLst>
  <p:sldIdLst>
    <p:sldId id="256" r:id="rId2"/>
    <p:sldId id="258" r:id="rId3"/>
    <p:sldId id="257"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4" autoAdjust="0"/>
    <p:restoredTop sz="94710" autoAdjust="0"/>
  </p:normalViewPr>
  <p:slideViewPr>
    <p:cSldViewPr snapToGrid="0">
      <p:cViewPr varScale="1">
        <p:scale>
          <a:sx n="79" d="100"/>
          <a:sy n="79" d="100"/>
        </p:scale>
        <p:origin x="85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tr-TR"/>
          </a:p>
        </p:txBody>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tr-TR"/>
          </a:p>
        </p:txBody>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tr-TR"/>
              <a:t>Asıl başlık stilini düzenlemek için tıklayın</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dirty="0"/>
          </a:p>
        </p:txBody>
      </p:sp>
      <p:sp>
        <p:nvSpPr>
          <p:cNvPr id="4" name="Date Placeholder 3"/>
          <p:cNvSpPr>
            <a:spLocks noGrp="1"/>
          </p:cNvSpPr>
          <p:nvPr>
            <p:ph type="dt" sz="half" idx="10"/>
          </p:nvPr>
        </p:nvSpPr>
        <p:spPr/>
        <p:txBody>
          <a:bodyPr/>
          <a:lstStyle/>
          <a:p>
            <a:fld id="{6B10BE78-F3CF-44AA-B332-3C32EF1AB814}" type="datetimeFigureOut">
              <a:rPr lang="tr-TR" smtClean="0"/>
              <a:t>3.04.2026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a:xfrm>
            <a:off x="9255346" y="2750337"/>
            <a:ext cx="1171888" cy="1356442"/>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0966873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tr-TR"/>
          </a:p>
        </p:txBody>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tr-TR"/>
          </a:p>
        </p:txBody>
      </p: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6B10BE78-F3CF-44AA-B332-3C32EF1AB814}" type="datetimeFigureOut">
              <a:rPr lang="tr-TR" smtClean="0"/>
              <a:t>3.04.2026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0444840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tr-TR"/>
              <a:t>Asıl başlık stilini düzenlemek için tıklayın</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p:cNvSpPr>
            <a:spLocks noGrp="1"/>
          </p:cNvSpPr>
          <p:nvPr>
            <p:ph type="dt" sz="half" idx="10"/>
          </p:nvPr>
        </p:nvSpPr>
        <p:spPr/>
        <p:txBody>
          <a:bodyPr/>
          <a:lstStyle/>
          <a:p>
            <a:fld id="{6B10BE78-F3CF-44AA-B332-3C32EF1AB814}" type="datetimeFigureOut">
              <a:rPr lang="tr-TR" smtClean="0"/>
              <a:t>3.04.2026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a:xfrm>
            <a:off x="10729455" y="2869895"/>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41781401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355588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tr-TR"/>
              <a:t>Asıl başlık stilini düzenlemek için tıklayın</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Content Placeholder 3"/>
          <p:cNvSpPr>
            <a:spLocks noGrp="1"/>
          </p:cNvSpPr>
          <p:nvPr>
            <p:ph sz="half" idx="2"/>
          </p:nvPr>
        </p:nvSpPr>
        <p:spPr>
          <a:xfrm>
            <a:off x="680322" y="3030008"/>
            <a:ext cx="4698355" cy="2906179"/>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Content Placeholder 5"/>
          <p:cNvSpPr>
            <a:spLocks noGrp="1"/>
          </p:cNvSpPr>
          <p:nvPr>
            <p:ph sz="quarter" idx="4"/>
          </p:nvPr>
        </p:nvSpPr>
        <p:spPr>
          <a:xfrm>
            <a:off x="5594123" y="3030008"/>
            <a:ext cx="4700059" cy="2906179"/>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7" name="Date Placeholder 6"/>
          <p:cNvSpPr>
            <a:spLocks noGrp="1"/>
          </p:cNvSpPr>
          <p:nvPr>
            <p:ph type="dt" sz="half" idx="10"/>
          </p:nvPr>
        </p:nvSpPr>
        <p:spPr/>
        <p:txBody>
          <a:bodyPr/>
          <a:lstStyle/>
          <a:p>
            <a:fld id="{6B10BE78-F3CF-44AA-B332-3C32EF1AB814}" type="datetimeFigureOut">
              <a:rPr lang="tr-TR" smtClean="0"/>
              <a:t>3.04.2026</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765080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tr-TR"/>
              <a:t>Asıl başlık stilini düzenlemek için tıklayın</a:t>
            </a:r>
            <a:endParaRPr lang="en-US" dirty="0"/>
          </a:p>
        </p:txBody>
      </p:sp>
      <p:sp>
        <p:nvSpPr>
          <p:cNvPr id="3" name="Date Placeholder 2"/>
          <p:cNvSpPr>
            <a:spLocks noGrp="1"/>
          </p:cNvSpPr>
          <p:nvPr>
            <p:ph type="dt" sz="half" idx="10"/>
          </p:nvPr>
        </p:nvSpPr>
        <p:spPr/>
        <p:txBody>
          <a:bodyPr/>
          <a:lstStyle/>
          <a:p>
            <a:fld id="{6B10BE78-F3CF-44AA-B332-3C32EF1AB814}" type="datetimeFigureOut">
              <a:rPr lang="tr-TR" smtClean="0"/>
              <a:t>3.04.2026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375421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6B10BE78-F3CF-44AA-B332-3C32EF1AB814}" type="datetimeFigureOut">
              <a:rPr lang="tr-TR" smtClean="0"/>
              <a:t>3.04.2026</a:t>
            </a:fld>
            <a:endParaRPr lang="tr-TR"/>
          </a:p>
        </p:txBody>
      </p:sp>
      <p:sp>
        <p:nvSpPr>
          <p:cNvPr id="3" name="Footer Placeholder 2"/>
          <p:cNvSpPr>
            <a:spLocks noGrp="1"/>
          </p:cNvSpPr>
          <p:nvPr>
            <p:ph type="ftr" sz="quarter" idx="11"/>
          </p:nvPr>
        </p:nvSpPr>
        <p:spPr/>
        <p:txBody>
          <a:bodyPr/>
          <a:lstStyle/>
          <a:p>
            <a:endParaRPr lang="tr-TR"/>
          </a:p>
        </p:txBody>
      </p:sp>
      <p:sp>
        <p:nvSpPr>
          <p:cNvPr id="4" name="Slide Number Placeholder 3"/>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961324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tr-TR"/>
              <a:t>Asıl başlık stilini düzenlemek için tıklayın</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35613046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3705874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Yazılı Panoramik Resim">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tr-TR"/>
              <a:t>Asıl başlık stilini düzenlemek için tıklayın</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tr-TR"/>
              <a:t>Resim eklemek için simgeye tıklayın</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11309"/>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328397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aşlık ve Resim Yazısı">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tr-TR"/>
              <a:t>Asıl başlık stilini düzenlemek için tıklayın</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11615"/>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4282663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Resim Yazılı Alıntı">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tr-TR"/>
              <a:t>Asıl başlık stilini düzenlemek için tıklayın</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09925"/>
            <a:ext cx="1154151" cy="1090789"/>
          </a:xfrm>
        </p:spPr>
        <p:txBody>
          <a:bodyPr/>
          <a:lstStyle/>
          <a:p>
            <a:fld id="{6B688B50-7D4E-4166-92D6-B1018C511047}" type="slidenum">
              <a:rPr lang="tr-TR" smtClean="0"/>
              <a:t>‹#›</a:t>
            </a:fld>
            <a:endParaRPr lang="tr-TR"/>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24313332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sim Kartı">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tr-TR"/>
              <a:t>Asıl başlık stilini düzenlemek için tıklayın</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Date Placeholder 4"/>
          <p:cNvSpPr>
            <a:spLocks noGrp="1"/>
          </p:cNvSpPr>
          <p:nvPr>
            <p:ph type="dt" sz="half" idx="10"/>
          </p:nvPr>
        </p:nvSpPr>
        <p:spPr/>
        <p:txBody>
          <a:bodyPr/>
          <a:lstStyle/>
          <a:p>
            <a:fld id="{6B10BE78-F3CF-44AA-B332-3C32EF1AB814}" type="datetimeFigureOut">
              <a:rPr lang="tr-TR" smtClean="0"/>
              <a:t>3.04.2026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a:xfrm>
            <a:off x="10729455" y="4709925"/>
            <a:ext cx="1154151" cy="1090789"/>
          </a:xfrm>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4991904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ütu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tr-TR"/>
              <a:t>Asıl başlık stilini düzenlemek için tıklayın</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3" name="Date Placeholder 2"/>
          <p:cNvSpPr>
            <a:spLocks noGrp="1"/>
          </p:cNvSpPr>
          <p:nvPr>
            <p:ph type="dt" sz="half" idx="10"/>
          </p:nvPr>
        </p:nvSpPr>
        <p:spPr/>
        <p:txBody>
          <a:bodyPr/>
          <a:lstStyle/>
          <a:p>
            <a:fld id="{6B10BE78-F3CF-44AA-B332-3C32EF1AB814}" type="datetimeFigureOut">
              <a:rPr lang="tr-TR" smtClean="0"/>
              <a:t>3.04.2026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85200003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Resim Sütunu">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tr-TR"/>
              <a:t>Asıl başlık stilini düzenlemek için tıklayın</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tr-TR"/>
              <a:t>Resim eklemek için simgeye tıklayın</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tr-TR"/>
              <a:t>Asıl metin stillerini düzenlemek için tıklayın</a:t>
            </a:r>
          </a:p>
        </p:txBody>
      </p:sp>
      <p:sp>
        <p:nvSpPr>
          <p:cNvPr id="3" name="Date Placeholder 2"/>
          <p:cNvSpPr>
            <a:spLocks noGrp="1"/>
          </p:cNvSpPr>
          <p:nvPr>
            <p:ph type="dt" sz="half" idx="10"/>
          </p:nvPr>
        </p:nvSpPr>
        <p:spPr/>
        <p:txBody>
          <a:bodyPr/>
          <a:lstStyle/>
          <a:p>
            <a:fld id="{6B10BE78-F3CF-44AA-B332-3C32EF1AB814}" type="datetimeFigureOut">
              <a:rPr lang="tr-TR" smtClean="0"/>
              <a:t>3.04.2026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2679301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tr-TR"/>
              <a:t>Asıl başlık stilini düzenlemek için tıklayın</a:t>
            </a:r>
            <a:endParaRPr lang="en-US" dirty="0"/>
          </a:p>
        </p:txBody>
      </p:sp>
      <p:sp>
        <p:nvSpPr>
          <p:cNvPr id="3" name="Vertical Text Placeholder 2"/>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p:txBody>
          <a:bodyPr/>
          <a:lstStyle/>
          <a:p>
            <a:fld id="{6B10BE78-F3CF-44AA-B332-3C32EF1AB814}" type="datetimeFigureOut">
              <a:rPr lang="tr-TR" smtClean="0"/>
              <a:t>3.04.2026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6B688B50-7D4E-4166-92D6-B1018C511047}" type="slidenum">
              <a:rPr lang="tr-TR" smtClean="0"/>
              <a:t>‹#›</a:t>
            </a:fld>
            <a:endParaRPr lang="tr-TR"/>
          </a:p>
        </p:txBody>
      </p:sp>
    </p:spTree>
    <p:extLst>
      <p:ext uri="{BB962C8B-B14F-4D97-AF65-F5344CB8AC3E}">
        <p14:creationId xmlns:p14="http://schemas.microsoft.com/office/powerpoint/2010/main" val="313059195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tr-TR"/>
              <a:t>Asıl başlık stilini düzenlemek için tıklayın</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6B10BE78-F3CF-44AA-B332-3C32EF1AB814}" type="datetimeFigureOut">
              <a:rPr lang="tr-TR" smtClean="0"/>
              <a:t>3.04.2026</a:t>
            </a:fld>
            <a:endParaRPr lang="tr-TR"/>
          </a:p>
        </p:txBody>
      </p:sp>
      <p:sp>
        <p:nvSpPr>
          <p:cNvPr id="5" name="Footer Placeholder 4"/>
          <p:cNvSpPr>
            <a:spLocks noGrp="1"/>
          </p:cNvSpPr>
          <p:nvPr>
            <p:ph type="ftr" sz="quarter" idx="11"/>
          </p:nvPr>
        </p:nvSpPr>
        <p:spPr>
          <a:xfrm>
            <a:off x="680321" y="5936188"/>
            <a:ext cx="6126805" cy="365125"/>
          </a:xfrm>
        </p:spPr>
        <p:txBody>
          <a:bodyPr/>
          <a:lstStyle/>
          <a:p>
            <a:endParaRPr lang="tr-TR"/>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6B688B50-7D4E-4166-92D6-B1018C511047}" type="slidenum">
              <a:rPr lang="tr-TR" smtClean="0"/>
              <a:t>‹#›</a:t>
            </a:fld>
            <a:endParaRPr lang="tr-TR"/>
          </a:p>
        </p:txBody>
      </p:sp>
    </p:spTree>
    <p:extLst>
      <p:ext uri="{BB962C8B-B14F-4D97-AF65-F5344CB8AC3E}">
        <p14:creationId xmlns:p14="http://schemas.microsoft.com/office/powerpoint/2010/main" val="4125565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tr-TR"/>
              <a:t>Asıl başlık stilini düzenlemek için tıklayın</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B10BE78-F3CF-44AA-B332-3C32EF1AB814}" type="datetimeFigureOut">
              <a:rPr lang="tr-TR" smtClean="0"/>
              <a:t>3.04.2026</a:t>
            </a:fld>
            <a:endParaRPr lang="tr-TR"/>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tr-TR"/>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6B688B50-7D4E-4166-92D6-B1018C511047}" type="slidenum">
              <a:rPr lang="tr-TR" smtClean="0"/>
              <a:t>‹#›</a:t>
            </a:fld>
            <a:endParaRPr lang="tr-TR"/>
          </a:p>
        </p:txBody>
      </p:sp>
    </p:spTree>
    <p:extLst>
      <p:ext uri="{BB962C8B-B14F-4D97-AF65-F5344CB8AC3E}">
        <p14:creationId xmlns:p14="http://schemas.microsoft.com/office/powerpoint/2010/main" val="56785851"/>
      </p:ext>
    </p:extLst>
  </p:cSld>
  <p:clrMap bg1="dk1" tx1="lt1" bg2="dk2" tx2="lt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 id="2147483786" r:id="rId12"/>
    <p:sldLayoutId id="2147483787" r:id="rId13"/>
    <p:sldLayoutId id="2147483788" r:id="rId14"/>
    <p:sldLayoutId id="2147483789" r:id="rId15"/>
    <p:sldLayoutId id="2147483790" r:id="rId16"/>
    <p:sldLayoutId id="2147483791"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D79398E-3537-4C53-840E-EE01A517C4F0}"/>
              </a:ext>
            </a:extLst>
          </p:cNvPr>
          <p:cNvSpPr>
            <a:spLocks noGrp="1"/>
          </p:cNvSpPr>
          <p:nvPr>
            <p:ph type="ctrTitle"/>
          </p:nvPr>
        </p:nvSpPr>
        <p:spPr>
          <a:xfrm>
            <a:off x="0" y="300504"/>
            <a:ext cx="9144000" cy="2387600"/>
          </a:xfrm>
        </p:spPr>
        <p:txBody>
          <a:bodyPr/>
          <a:lstStyle/>
          <a:p>
            <a:pPr algn="l"/>
            <a:r>
              <a:rPr lang="tr-TR"/>
              <a:t>İHSAN OKTAY ANAR</a:t>
            </a:r>
            <a:endParaRPr lang="tr-TR" dirty="0"/>
          </a:p>
        </p:txBody>
      </p:sp>
      <p:sp>
        <p:nvSpPr>
          <p:cNvPr id="3" name="Alt Başlık 2">
            <a:extLst>
              <a:ext uri="{FF2B5EF4-FFF2-40B4-BE49-F238E27FC236}">
                <a16:creationId xmlns:a16="http://schemas.microsoft.com/office/drawing/2014/main" id="{0F8A6792-0236-477F-B4DF-31908E42F798}"/>
              </a:ext>
            </a:extLst>
          </p:cNvPr>
          <p:cNvSpPr>
            <a:spLocks noGrp="1"/>
          </p:cNvSpPr>
          <p:nvPr>
            <p:ph type="subTitle" idx="1"/>
          </p:nvPr>
        </p:nvSpPr>
        <p:spPr>
          <a:xfrm>
            <a:off x="0" y="2688104"/>
            <a:ext cx="9144000" cy="1655762"/>
          </a:xfrm>
        </p:spPr>
        <p:txBody>
          <a:bodyPr/>
          <a:lstStyle/>
          <a:p>
            <a:pPr marL="342900" indent="-342900" algn="just">
              <a:buFont typeface="Arial" panose="020B0604020202020204" pitchFamily="34" charset="0"/>
              <a:buChar char="•"/>
            </a:pPr>
            <a:r>
              <a:rPr lang="tr-TR" dirty="0"/>
              <a:t>Hakkında</a:t>
            </a:r>
          </a:p>
          <a:p>
            <a:pPr marL="342900" indent="-342900" algn="just">
              <a:buFont typeface="Arial" panose="020B0604020202020204" pitchFamily="34" charset="0"/>
              <a:buChar char="•"/>
            </a:pPr>
            <a:r>
              <a:rPr lang="tr-TR" dirty="0"/>
              <a:t>Hayatı</a:t>
            </a:r>
          </a:p>
          <a:p>
            <a:pPr marL="342900" indent="-342900" algn="just">
              <a:buFont typeface="Arial" panose="020B0604020202020204" pitchFamily="34" charset="0"/>
              <a:buChar char="•"/>
            </a:pPr>
            <a:r>
              <a:rPr lang="tr-TR" dirty="0"/>
              <a:t>Edebi kişiliği</a:t>
            </a:r>
          </a:p>
          <a:p>
            <a:pPr marL="342900" indent="-342900" algn="just">
              <a:buFont typeface="Arial" panose="020B0604020202020204" pitchFamily="34" charset="0"/>
              <a:buChar char="•"/>
            </a:pPr>
            <a:r>
              <a:rPr lang="tr-TR" dirty="0"/>
              <a:t>Kitapları</a:t>
            </a:r>
          </a:p>
        </p:txBody>
      </p:sp>
      <p:pic>
        <p:nvPicPr>
          <p:cNvPr id="1030" name="Picture 6" descr="İhsan Oktay Anar: “Bunlar roman, belgesel değil.” - Oggito">
            <a:extLst>
              <a:ext uri="{FF2B5EF4-FFF2-40B4-BE49-F238E27FC236}">
                <a16:creationId xmlns:a16="http://schemas.microsoft.com/office/drawing/2014/main" id="{2E8D1786-220B-9003-9CB8-2930636E34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334625" y="4267200"/>
            <a:ext cx="1857375" cy="2590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2135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E920634-E2C4-438A-A97C-3DF5948F632E}"/>
              </a:ext>
            </a:extLst>
          </p:cNvPr>
          <p:cNvSpPr>
            <a:spLocks noGrp="1"/>
          </p:cNvSpPr>
          <p:nvPr>
            <p:ph type="title"/>
          </p:nvPr>
        </p:nvSpPr>
        <p:spPr/>
        <p:txBody>
          <a:bodyPr/>
          <a:lstStyle/>
          <a:p>
            <a:r>
              <a:rPr lang="tr-TR" dirty="0"/>
              <a:t>Hakkında</a:t>
            </a:r>
          </a:p>
        </p:txBody>
      </p:sp>
      <p:sp>
        <p:nvSpPr>
          <p:cNvPr id="3" name="İçerik Yer Tutucusu 2">
            <a:extLst>
              <a:ext uri="{FF2B5EF4-FFF2-40B4-BE49-F238E27FC236}">
                <a16:creationId xmlns:a16="http://schemas.microsoft.com/office/drawing/2014/main" id="{E935F224-4E41-441C-B03D-9AB8C12A1452}"/>
              </a:ext>
            </a:extLst>
          </p:cNvPr>
          <p:cNvSpPr>
            <a:spLocks noGrp="1"/>
          </p:cNvSpPr>
          <p:nvPr>
            <p:ph idx="1"/>
          </p:nvPr>
        </p:nvSpPr>
        <p:spPr/>
        <p:txBody>
          <a:bodyPr/>
          <a:lstStyle/>
          <a:p>
            <a:r>
              <a:rPr lang="tr-TR" dirty="0"/>
              <a:t>Yozgat’ta doğdu. Ege Üniversitesi Edebiyat Fakültesi Felsefe Bölümünü bitirdi. Aynı üniversitede yüksek lisans ve doktorasını tamamladı, aynı bölümde öğretim üyeliği yaptı. Çeşitli dergilerde hikâye ve yazıları yayımlandı. Masal ve mitoloji ögelerinden, dinî metinlerden, bilim, felsefe tarihi gibi çok zengin kaynaklardan beslenen yazar, eserlerinde zengin bir kişi kadrosuna yer verdi. Ayrıca İhsan Oktay Anar; felsefi, bilimsel ve kültürel unsurları bir arada yoğurduğu eserlerinde mekânlar, konuşulan diller ve kişilerin bağlı bulundukları ulusal kimlikler bakımından da okura oldukça zengin bir içerik sunmuştur</a:t>
            </a:r>
          </a:p>
          <a:p>
            <a:endParaRPr lang="tr-TR" dirty="0"/>
          </a:p>
        </p:txBody>
      </p:sp>
      <p:pic>
        <p:nvPicPr>
          <p:cNvPr id="2050" name="Picture 2" descr="İhsan Oktay Anar, Biyografisi, Tüm kitapları - tamadres.com">
            <a:extLst>
              <a:ext uri="{FF2B5EF4-FFF2-40B4-BE49-F238E27FC236}">
                <a16:creationId xmlns:a16="http://schemas.microsoft.com/office/drawing/2014/main" id="{D947D3FC-EF39-B8C1-ECF9-8E3558E243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81814" y="600363"/>
            <a:ext cx="1610186" cy="13854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28673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6000"/>
                <a:shade val="100000"/>
                <a:hueMod val="270000"/>
                <a:satMod val="200000"/>
                <a:lumMod val="128000"/>
              </a:schemeClr>
            </a:gs>
            <a:gs pos="50000">
              <a:schemeClr val="bg2">
                <a:shade val="100000"/>
                <a:hueMod val="100000"/>
                <a:satMod val="110000"/>
                <a:lumMod val="130000"/>
              </a:schemeClr>
            </a:gs>
            <a:gs pos="100000">
              <a:schemeClr val="bg2">
                <a:shade val="78000"/>
                <a:hueMod val="44000"/>
                <a:satMod val="200000"/>
                <a:lumMod val="69000"/>
              </a:schemeClr>
            </a:gs>
          </a:gsLst>
          <a:lin ang="2520000" scaled="0"/>
        </a:gradFill>
        <a:effectLst/>
      </p:bgPr>
    </p:bg>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7A9CBBD-CC13-43BF-A1A0-83283086E927}"/>
              </a:ext>
            </a:extLst>
          </p:cNvPr>
          <p:cNvSpPr>
            <a:spLocks noGrp="1"/>
          </p:cNvSpPr>
          <p:nvPr>
            <p:ph type="title"/>
          </p:nvPr>
        </p:nvSpPr>
        <p:spPr>
          <a:xfrm>
            <a:off x="680321" y="753228"/>
            <a:ext cx="9613861" cy="1080938"/>
          </a:xfrm>
        </p:spPr>
        <p:txBody>
          <a:bodyPr>
            <a:normAutofit/>
          </a:bodyPr>
          <a:lstStyle/>
          <a:p>
            <a:r>
              <a:rPr lang="tr-TR" dirty="0"/>
              <a:t>Hayatı</a:t>
            </a:r>
          </a:p>
        </p:txBody>
      </p:sp>
      <p:sp>
        <p:nvSpPr>
          <p:cNvPr id="3" name="İçerik Yer Tutucusu 2">
            <a:extLst>
              <a:ext uri="{FF2B5EF4-FFF2-40B4-BE49-F238E27FC236}">
                <a16:creationId xmlns:a16="http://schemas.microsoft.com/office/drawing/2014/main" id="{2DF24D97-937F-449F-82C1-B4B0B45AD1F8}"/>
              </a:ext>
            </a:extLst>
          </p:cNvPr>
          <p:cNvSpPr>
            <a:spLocks noGrp="1"/>
          </p:cNvSpPr>
          <p:nvPr>
            <p:ph idx="1"/>
          </p:nvPr>
        </p:nvSpPr>
        <p:spPr>
          <a:xfrm>
            <a:off x="680321" y="2336873"/>
            <a:ext cx="7115170" cy="3599316"/>
          </a:xfrm>
        </p:spPr>
        <p:txBody>
          <a:bodyPr>
            <a:normAutofit/>
          </a:bodyPr>
          <a:lstStyle/>
          <a:p>
            <a:pPr marL="0" indent="0">
              <a:buNone/>
            </a:pPr>
            <a:r>
              <a:rPr lang="tr-TR" sz="1300" dirty="0"/>
              <a:t>1893'te dedeleri Kazan'dan göçerek İstanbul'a gelmiş ve Cumhuriyetten sonra Anar soyadını almıştır. Babası Mehmet Sait Bey Tekel'de müskirat eksperi, dindar bir insandır. Annesi Bedia Hanım devlet memurudur. Süheyla ve Füruzan adında iki ablası olan İhsan Oktay Anar, onların da kitap okumayı sevdiğini söyler, beşinci kitabı </a:t>
            </a:r>
            <a:r>
              <a:rPr lang="tr-TR" sz="1300" dirty="0" err="1"/>
              <a:t>Suskunlar'ı</a:t>
            </a:r>
            <a:r>
              <a:rPr lang="tr-TR" sz="1300" dirty="0"/>
              <a:t> ablalarına ithaf etmiştir. Okumaya meraklı bir aileden gelen yazar, söyleşilerinde mutlu, huzurlu bir çocukluk geçirdiğini belirtmektedir.</a:t>
            </a:r>
          </a:p>
          <a:p>
            <a:pPr marL="0" indent="0">
              <a:buNone/>
            </a:pPr>
            <a:endParaRPr lang="tr-TR" sz="1300" b="0" i="0" dirty="0">
              <a:effectLst/>
              <a:latin typeface="Open Sans" panose="020B0604020202020204" pitchFamily="34" charset="0"/>
            </a:endParaRPr>
          </a:p>
          <a:p>
            <a:pPr marL="0" indent="0">
              <a:buNone/>
            </a:pPr>
            <a:r>
              <a:rPr lang="tr-TR" sz="1300" b="0" i="0" dirty="0">
                <a:effectLst/>
                <a:latin typeface="Open Sans" panose="020B0604020202020204" pitchFamily="34" charset="0"/>
              </a:rPr>
              <a:t>İhsan Oktay Anar, ilkokulu ve ortaokulu İstanbul’da okumuştur. Ailesinin İstanbul’dan taşınmasıyla öğrenim hayatına 1974’te İzmir’de devam eden yazar, Karşıyaka Erkek Lisesi’ne gitmiştir; ancak tamamlayamamıştır. Okula gitmek yerine kütüphaneye kaçıp kitap okuyan İhsan Oktay Anar, devamsızlık nedeniyle Karşıyaka Erkek Lisesi’nden atılınca Akşam Sanat Lisesi’ne yazılmıştır. Derslerin akşam olması, istediği gibi okuyabilmesi için büyük bir fırsat olmuştur. Anar, okurken tabela boyayarak girdiği resimli dünyada yağlı boya resim yapmaya başlamış, bu uğraşı yıllarca sürdürmüştür. Ege Üniversitesi Felsefe Bölümü'nü 1984’te bitirmiş, aynı üniversitede </a:t>
            </a:r>
            <a:r>
              <a:rPr lang="tr-TR" sz="1300" b="0" i="1" dirty="0">
                <a:effectLst/>
                <a:latin typeface="Open Sans" panose="020B0604020202020204" pitchFamily="34" charset="0"/>
              </a:rPr>
              <a:t>Sokrates Öncesi Felsefede Varlık Sorunu</a:t>
            </a:r>
            <a:r>
              <a:rPr lang="tr-TR" sz="1300" b="0" i="0" dirty="0">
                <a:effectLst/>
                <a:latin typeface="Open Sans" panose="020B0604020202020204" pitchFamily="34" charset="0"/>
              </a:rPr>
              <a:t> başlıklı teziyle, 1989’da yüksek lisansını tamamlamıştır.</a:t>
            </a:r>
            <a:endParaRPr lang="tr-TR" sz="1300" dirty="0"/>
          </a:p>
        </p:txBody>
      </p:sp>
      <p:pic>
        <p:nvPicPr>
          <p:cNvPr id="3074" name="Picture 2" descr="Kütüphane Haftası'nda mutlaka görülmesi gereken kütüphaneler -  KÜLTÜR.İSTANBUL">
            <a:extLst>
              <a:ext uri="{FF2B5EF4-FFF2-40B4-BE49-F238E27FC236}">
                <a16:creationId xmlns:a16="http://schemas.microsoft.com/office/drawing/2014/main" id="{EBCD8550-E082-BD26-0718-3098A626ABA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6385" r="32276" b="1"/>
          <a:stretch>
            <a:fillRect/>
          </a:stretch>
        </p:blipFill>
        <p:spPr bwMode="auto">
          <a:xfrm>
            <a:off x="9179936" y="2337326"/>
            <a:ext cx="2656718" cy="3598863"/>
          </a:xfrm>
          <a:prstGeom prst="rect">
            <a:avLst/>
          </a:prstGeom>
          <a:noFill/>
          <a:ln>
            <a:noFill/>
          </a:ln>
          <a:effectLst>
            <a:outerShdw blurRad="76200" dist="63500" dir="5040000" algn="tl" rotWithShape="0">
              <a:srgbClr val="000000">
                <a:alpha val="41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80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F8624BD8-63F5-42A1-A157-1EE173E9EACA}"/>
              </a:ext>
            </a:extLst>
          </p:cNvPr>
          <p:cNvSpPr>
            <a:spLocks noGrp="1"/>
          </p:cNvSpPr>
          <p:nvPr>
            <p:ph type="title"/>
          </p:nvPr>
        </p:nvSpPr>
        <p:spPr/>
        <p:txBody>
          <a:bodyPr/>
          <a:lstStyle/>
          <a:p>
            <a:r>
              <a:rPr lang="tr-TR" dirty="0"/>
              <a:t>Edebi kişiliği</a:t>
            </a:r>
          </a:p>
        </p:txBody>
      </p:sp>
      <p:sp>
        <p:nvSpPr>
          <p:cNvPr id="3" name="İçerik Yer Tutucusu 2">
            <a:extLst>
              <a:ext uri="{FF2B5EF4-FFF2-40B4-BE49-F238E27FC236}">
                <a16:creationId xmlns:a16="http://schemas.microsoft.com/office/drawing/2014/main" id="{C5F7613A-1215-4FE2-8F04-278DEAAC2870}"/>
              </a:ext>
            </a:extLst>
          </p:cNvPr>
          <p:cNvSpPr>
            <a:spLocks noGrp="1"/>
          </p:cNvSpPr>
          <p:nvPr>
            <p:ph idx="1"/>
          </p:nvPr>
        </p:nvSpPr>
        <p:spPr/>
        <p:txBody>
          <a:bodyPr/>
          <a:lstStyle/>
          <a:p>
            <a:pPr marL="0" indent="0">
              <a:buNone/>
            </a:pPr>
            <a:r>
              <a:rPr lang="tr-TR" dirty="0"/>
              <a:t>İhsan Oktay Anar, Türk edebiyatında </a:t>
            </a:r>
            <a:r>
              <a:rPr lang="tr-TR" dirty="0" err="1"/>
              <a:t>postmodern</a:t>
            </a:r>
            <a:r>
              <a:rPr lang="tr-TR" dirty="0"/>
              <a:t> anlatımıyla öne çıkan özgün bir yazardır. Eserlerinde gerçek ile hayali iç içe geçirerek okuyucuyu farklı bir dünyaya sürükler. Çok katmanlı kurgu yapısı, zengin ve eski kelimelerle bezeli dili, masal ve mitoloji unsurlarıyla birleşerek kendine has bir üslup oluşturur. Romanlarında sıkça ironi, mizah ve oyunsu bir anlatım görülür. Farklı karakterleri ve olayları iç içe geçirerek tek bir merkezden uzak, parçalı bir yapı kurar. Bu özellikleriyle İhsan Oktay Anar, okuyucuyu düşündüren ve aktif katılım gerektiren eserler ortaya koymuştur.</a:t>
            </a:r>
          </a:p>
        </p:txBody>
      </p:sp>
      <p:pic>
        <p:nvPicPr>
          <p:cNvPr id="4098" name="Picture 2" descr="İhsan Oktay Anar Romanına Açılan Kapılar - Oggito">
            <a:extLst>
              <a:ext uri="{FF2B5EF4-FFF2-40B4-BE49-F238E27FC236}">
                <a16:creationId xmlns:a16="http://schemas.microsoft.com/office/drawing/2014/main" id="{E9FFEC22-B54F-F3B6-2D6B-4182230AA83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20218" y="586480"/>
            <a:ext cx="1671782" cy="14144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1009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9F1728FE-B036-4D78-8652-91335E0889AD}"/>
              </a:ext>
            </a:extLst>
          </p:cNvPr>
          <p:cNvSpPr>
            <a:spLocks noGrp="1"/>
          </p:cNvSpPr>
          <p:nvPr>
            <p:ph type="title"/>
          </p:nvPr>
        </p:nvSpPr>
        <p:spPr/>
        <p:txBody>
          <a:bodyPr/>
          <a:lstStyle/>
          <a:p>
            <a:r>
              <a:rPr lang="tr-TR" dirty="0"/>
              <a:t>Eserleri</a:t>
            </a:r>
          </a:p>
        </p:txBody>
      </p:sp>
      <p:sp>
        <p:nvSpPr>
          <p:cNvPr id="3" name="İçerik Yer Tutucusu 2">
            <a:extLst>
              <a:ext uri="{FF2B5EF4-FFF2-40B4-BE49-F238E27FC236}">
                <a16:creationId xmlns:a16="http://schemas.microsoft.com/office/drawing/2014/main" id="{C12302E8-340D-4EF0-81C0-CBD90DB9403A}"/>
              </a:ext>
            </a:extLst>
          </p:cNvPr>
          <p:cNvSpPr>
            <a:spLocks noGrp="1"/>
          </p:cNvSpPr>
          <p:nvPr>
            <p:ph idx="1"/>
          </p:nvPr>
        </p:nvSpPr>
        <p:spPr>
          <a:xfrm>
            <a:off x="0" y="2346108"/>
            <a:ext cx="9613861" cy="4063927"/>
          </a:xfrm>
        </p:spPr>
        <p:txBody>
          <a:bodyPr>
            <a:normAutofit/>
          </a:bodyPr>
          <a:lstStyle/>
          <a:p>
            <a:r>
              <a:rPr lang="tr-TR" dirty="0">
                <a:solidFill>
                  <a:schemeClr val="bg1"/>
                </a:solidFill>
              </a:rPr>
              <a:t>Puslu Kıtalar Atlası  </a:t>
            </a:r>
            <a:r>
              <a:rPr lang="tr-TR" dirty="0"/>
              <a:t>→ En bilinen eseri, onu ünlü yapan roman</a:t>
            </a:r>
          </a:p>
          <a:p>
            <a:r>
              <a:rPr lang="tr-TR" dirty="0" err="1">
                <a:solidFill>
                  <a:schemeClr val="bg1"/>
                </a:solidFill>
              </a:rPr>
              <a:t>Kitab-ül</a:t>
            </a:r>
            <a:r>
              <a:rPr lang="tr-TR" dirty="0">
                <a:solidFill>
                  <a:schemeClr val="bg1"/>
                </a:solidFill>
              </a:rPr>
              <a:t> </a:t>
            </a:r>
            <a:r>
              <a:rPr lang="tr-TR" dirty="0" err="1">
                <a:solidFill>
                  <a:schemeClr val="bg1"/>
                </a:solidFill>
              </a:rPr>
              <a:t>Hiyel</a:t>
            </a:r>
            <a:r>
              <a:rPr lang="tr-TR" dirty="0">
                <a:solidFill>
                  <a:schemeClr val="bg1"/>
                </a:solidFill>
              </a:rPr>
              <a:t>  </a:t>
            </a:r>
            <a:r>
              <a:rPr lang="tr-TR" dirty="0"/>
              <a:t>→ Farklı hayat hikâyelerini birleştirir</a:t>
            </a:r>
          </a:p>
          <a:p>
            <a:r>
              <a:rPr lang="tr-TR" dirty="0" err="1">
                <a:solidFill>
                  <a:schemeClr val="bg1"/>
                </a:solidFill>
              </a:rPr>
              <a:t>Efrasiyab’ın</a:t>
            </a:r>
            <a:r>
              <a:rPr lang="tr-TR" dirty="0">
                <a:solidFill>
                  <a:schemeClr val="bg1"/>
                </a:solidFill>
              </a:rPr>
              <a:t> Hikâyeleri </a:t>
            </a:r>
            <a:r>
              <a:rPr lang="tr-TR" dirty="0"/>
              <a:t>→ Hikâye kitabıdır, masal ve mitoloji içerir</a:t>
            </a:r>
          </a:p>
          <a:p>
            <a:r>
              <a:rPr lang="tr-TR" dirty="0" err="1">
                <a:solidFill>
                  <a:schemeClr val="bg1"/>
                </a:solidFill>
              </a:rPr>
              <a:t>Amat</a:t>
            </a:r>
            <a:r>
              <a:rPr lang="tr-TR" dirty="0"/>
              <a:t>  → Deniz romanıdır, fantastik unsurlar barındırır</a:t>
            </a:r>
          </a:p>
          <a:p>
            <a:r>
              <a:rPr lang="tr-TR" dirty="0">
                <a:solidFill>
                  <a:schemeClr val="bg1"/>
                </a:solidFill>
              </a:rPr>
              <a:t>Suskunlar </a:t>
            </a:r>
            <a:r>
              <a:rPr lang="tr-TR" dirty="0"/>
              <a:t> → azarın olgunluk eseri olarak kabul edilir</a:t>
            </a:r>
            <a:r>
              <a:rPr lang="tr-TR" i="1" dirty="0"/>
              <a:t> </a:t>
            </a:r>
          </a:p>
          <a:p>
            <a:r>
              <a:rPr lang="tr-TR" dirty="0">
                <a:solidFill>
                  <a:schemeClr val="bg1"/>
                </a:solidFill>
              </a:rPr>
              <a:t>Yedinci Gün </a:t>
            </a:r>
            <a:r>
              <a:rPr lang="tr-TR" dirty="0"/>
              <a:t>→ Daha toplumsal ve tarihsel konular içerir</a:t>
            </a:r>
          </a:p>
          <a:p>
            <a:pPr algn="just"/>
            <a:r>
              <a:rPr lang="tr-TR" dirty="0">
                <a:solidFill>
                  <a:schemeClr val="bg1"/>
                </a:solidFill>
              </a:rPr>
              <a:t>Galiz Kahraman </a:t>
            </a:r>
            <a:r>
              <a:rPr lang="tr-TR" dirty="0"/>
              <a:t>→ Toplumdan dışlanmış bir karakter üzerinden 				  ilerleyen bir eleştiri romandır.</a:t>
            </a:r>
          </a:p>
        </p:txBody>
      </p:sp>
      <p:pic>
        <p:nvPicPr>
          <p:cNvPr id="5122" name="Picture 2" descr="Puslu Kıtalar Atlası">
            <a:extLst>
              <a:ext uri="{FF2B5EF4-FFF2-40B4-BE49-F238E27FC236}">
                <a16:creationId xmlns:a16="http://schemas.microsoft.com/office/drawing/2014/main" id="{E5C06F12-661C-D3A6-61A5-01355BBAA1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76553" y="2209834"/>
            <a:ext cx="2515447" cy="43364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6118860"/>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docProps/app.xml><?xml version="1.0" encoding="utf-8"?>
<Properties xmlns="http://schemas.openxmlformats.org/officeDocument/2006/extended-properties" xmlns:vt="http://schemas.openxmlformats.org/officeDocument/2006/docPropsVTypes">
  <Template>TM04033917[[fn=Berlin]]</Template>
  <TotalTime>52</TotalTime>
  <Words>448</Words>
  <Application>Microsoft Office PowerPoint</Application>
  <PresentationFormat>Geniş ekran</PresentationFormat>
  <Paragraphs>21</Paragraphs>
  <Slides>5</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5</vt:i4>
      </vt:variant>
    </vt:vector>
  </HeadingPairs>
  <TitlesOfParts>
    <vt:vector size="9" baseType="lpstr">
      <vt:lpstr>Arial</vt:lpstr>
      <vt:lpstr>Open Sans</vt:lpstr>
      <vt:lpstr>Trebuchet MS</vt:lpstr>
      <vt:lpstr>Berlin</vt:lpstr>
      <vt:lpstr>İHSAN OKTAY ANAR</vt:lpstr>
      <vt:lpstr>Hakkında</vt:lpstr>
      <vt:lpstr>Hayatı</vt:lpstr>
      <vt:lpstr>Edebi kişiliği</vt:lpstr>
      <vt:lpstr>Eserleri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İHSAN OKTAY ANAR</dc:title>
  <dc:creator>Lenovo</dc:creator>
  <cp:lastModifiedBy>ibrahim</cp:lastModifiedBy>
  <cp:revision>9</cp:revision>
  <dcterms:created xsi:type="dcterms:W3CDTF">2026-03-30T06:27:57Z</dcterms:created>
  <dcterms:modified xsi:type="dcterms:W3CDTF">2026-04-03T10:05:47Z</dcterms:modified>
</cp:coreProperties>
</file>